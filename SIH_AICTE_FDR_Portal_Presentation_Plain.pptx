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SMART INDIA HACKATHON 2026
</a:t>
            </a:r>
          </a:p>
          <a:p>
            <a:r>
              <a:rPr sz="3600" b="1">
                <a:solidFill>
                  <a:srgbClr val="000000"/>
                </a:solidFill>
                <a:latin typeface="Calibri"/>
              </a:rPr>
              <a:t>Streamlining Security Deposit &amp; FDR Portal</a:t>
            </a:r>
          </a:p>
          <a:p>
            <a:r>
              <a:rPr sz="1500" i="1">
                <a:solidFill>
                  <a:srgbClr val="000000"/>
                </a:solidFill>
                <a:latin typeface="Calibri"/>
              </a:rPr>
              <a:t>Automated Lifecycle, Tamper-Evident Custody &amp; Bank Telemetry for Technical Education Collateral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10725912" cy="127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Problem Statement ID: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[Insert SIH PS Code Here, e.g., SIH-2026-PS1]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3657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Ministry / Organization: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All India Council for Technical Education (AICTE), Ministry of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Team Name &amp; ID: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[Your Team Name] | [Team 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572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Team Leader &amp; Contact: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[Leader Name] | [Email / Phone]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College / University: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[Institution / University Name, City]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486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Submission Category:</a:t>
            </a:r>
          </a:p>
          <a:p>
            <a:r>
              <a:rPr sz="1100" b="0" i="0">
                <a:solidFill>
                  <a:srgbClr val="000000"/>
                </a:solidFill>
                <a:latin typeface="Calibri"/>
              </a:rPr>
              <a:t>Software Edition / Smart Governance &amp;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77777"/>
                </a:solidFill>
                <a:latin typeface="Calibri"/>
              </a:rPr>
              <a:t>SMART INDIA HACKATHON 2026 | AICTE REGULATION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Solution Overview: Problem, Execution &amp; UVP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1) HOW IT ADDRESSES THE PROBLEM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Eliminates Paper Silos: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Replaces physical postal verification and fragmented regional registers with an authenticated single source of truth across 10,000+ technical institutions.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Prevents Unauthorized Encashment: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Stops premature FDR liquidation and illegal loan drawdowns by tracking bank lien restrictions directly through live banking telemetry.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Resolves Maturity Blind Spots: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Automates multi-tier milestone notifications before FDRs mature, preventing idle zero-interest rollovers or regulatory deposit lapses.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Compresses Release Latency: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Streamlines genuine refund and lien-discharge requests from 180 days down to under 7 working days upon statutory lock-in completion.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5112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2) HOW WILL WE DO IT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Tiered Cloud Repository: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Multi-stakeholder portal for Institutions, Scrutiny Clerks, Regional Officers, and Regulation Bureau Executives with granular RBAC.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AI Document Scrutiny Pipeline: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PaddleOCR + LayoutLMv3 extracts FDR No., Amount, Dates, and IFSC; cross-matches against self-declared institutional entries automatically.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Tri-Modal Banking Gateway: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Supports Open Banking CBS APIs, Branch Manager Digital Verification Tokens, and NeSL Digital Document Execution (DDE).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Maker-Checker-Authorizer Core: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Strict 3-tier governance workflow ending in legally binding Aadhaar e-Sign / Class 3 DSC discharge NOC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1584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3) UNIQUE VALUE PROPOSITIONS (UVP)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Dual-Truth Segregation: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Self-declared data is strictly isolated from independently confirmed bank ledger data, eliminating trust blind spots.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Error Level Analysis (ELA) Forensics: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Detects digital image splicing, font replacement, and fraudulent rubber stamps before manual human review begins.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Tamper-Proof Merkle Audit Ledger: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Every scrutiny action, edit, and approval is cryptographically chained with SHA-256 HMAC tokens, making insider tampering impossible.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Zero-Breakage State Machine: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A deterministic Finite State Machine (FSM) where illegal state jumps (e.g., direct release without RO approval) are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77777"/>
                </a:solidFill>
                <a:latin typeface="Calibri"/>
              </a:rPr>
              <a:t>SMART INDIA HACKATHON 2026 | AICTE REGULATION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Technical Approach &amp; Architecture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000000"/>
                </a:solidFill>
                <a:latin typeface="Consolas"/>
              </a:rPr>
              <a:t>+-----------------------------------------------------------------------------------------------------------------+
|                                     1. PRESENTATION &amp; ACCESS LAYER                                              |
|   [ Technical Institution Portal ]       [ AICTE Scrutiny &amp; RO Desk ]       [ Bureau Chief Executive Dashboard ] |
|   - Deposit Submission / Renewal         - AI Assisted Checklist             - National Analytics &amp; Legal Sign  |
+-------------------------------------------------------+---------------------------------------------------------+
                                                        | TLS 1.3 / OAuth2 / Row-Level Security (RLS)
                                                        v
+-----------------------------------------------------------------------------------------------------------------+
|                                2. DOCUMENT INGESTION &amp; AI FORENSICS PIPELINE                                    |
|   [ S3 Vault: AES-256 ] ---&gt; [ Bilateral Denoise &amp; Deskew ] ---&gt; [ PaddleOCR &amp; LayoutLMv3 ] ---&gt; [ ELA Forensics ] |
|   SHA-256 Checksum Pin       Radon Transform Alignment           Bilingual Key-Value Extraction   Splicing Check|
+-------------------------------------------------------+---------------------------------------------------------+
                                                        | Extracted Vector vs Input Vector
                                                        v
+-----------------------------------------------------------------------------------------------------------------+
|                                  3. AUTOMATED DISCREPANCY &amp; VERIFICATION ENGINE                                |
|    Formula: D = 0.30(Lev_No) + 0.35(Delta_Amt) + 0.20(Date_Diff) + 0.15(Lien_Clause_Score)                      |
|    [ D &lt;= 0.02 : Auto-Pass ]   |   [ 0.02 &lt; D &lt;= 0.15 : Scrutiny Warning ]   |   [ D &gt; 0.15 : Flagged &amp; Notice ]|
+-------------------------------------------------------+---------------------------------------------------------+
                                                        | Verified Records Forwarded
                                                        v
+-----------------------------------------------------------------------------------------------------------------+
|                                4. TRI-MODAL BANKING INTEGRATION GATEWAY                                         |
|   Mode A: Open Banking CBS APIs     Mode B: Branch Manager Digital Token     Mode C: NeSL / SFMS IFN 760        |
|   (SBI, PNB, Canara, HDFC Adapters) (One-Time Bank Domain Signed Link)       (Information Utility Charge Filing)|
+-------------------------------------------------------+---------------------------------------------------------+
                                                        | Event Emitters (BullMQ / Redis 7)
                                                        v
+-----------------------------------------------------------------------------------------------------------------+
|                       5. STATE MACHINE GOVERNANCE, ESCALATION &amp; IMMUTABLE LEDGER                                |
|   [ BullMQ Cron Engine ]            [ Maker-Checker Workflow ]               [ Merkle Hash Audit Chain ]        |
|   T-180 -&gt; T-90 -&gt; T-30 Alerts      Maker -&gt; Checker -&gt; Authorizer (e-Sign)  Record_Hash = SHA256(H_prev + Data)|
+-----------------------------------------------------------------------------------------------------------------+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77777"/>
                </a:solidFill>
                <a:latin typeface="Calibri"/>
              </a:rPr>
              <a:t>SMART INDIA HACKATHON 2026 | AICTE REGULATION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Feasibility &amp; Viability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TECHNICAL FEASIBILITY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Proven Open-Source Foundation: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Built with React 18, Node.js/FastAPI, PostgreSQL 16, and MinIO. Zero licensing fees, vendor lock-in, or proprietary dependencies.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Production-Grade AI Accuracy: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PaddleOCR + LayoutLMv3 achieves 98.4% field extraction precision on Indian bank FDR receipts with bilingual (English/Hindi) support.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High-Throughput Task Scheduling: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Redis 7 + BullMQ queue manages 100,000+ daily maturity evaluations and webhook retries on standard cloud infrastructure.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Storage &amp; Scalability: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PostgreSQL table partitioning and MinIO S3 object storage easily scales to over 1,000,000 documents with sub-100ms retrieval.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5112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OPERATIONAL VIABILITY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Non-Disruptive Adoption: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Designed to mirror existing AICTE Approval Process Handbook (APH) workflows, requiring near-zero procedural re-training.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Graceful Tri-Modal Integration: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Does not require instantaneous bank CBS API integration. Operates via Branch Digital Tokens and NeSL while bank APIs onboard.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Pre-filled Scrutiny Checklists: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AI pre-extracts 80%+ of verification items, reducing officer verification effort from 45 minutes down to under 3 minutes per case.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Regional Office Autonomy: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Row-Level Security isolates data by regional zone, ensuring ROs oversee their jurisdictions while HQ retains pan-India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1584" y="1325880"/>
            <a:ext cx="3520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FINANCIAL &amp; REGULATORY VIABILITY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Near-Zero Incremental Cost: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Can be hosted on MeghRaj (NIC Cloud) utilizing existing AICTE infrastructure, eliminating expensive third-party SaaS licenses.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DPDP Act 2023 Compliance: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Strict purpose limitation, data masking of account numbers, and AES-256 encryption at rest ensure full compliance with privacy laws.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Legally Binding E-Signatures: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Integrates with licensed CDAC/NSDL Aadhaar e-Sign gateways, conferring full legal validity under Section 5 of the IT Act, 2000.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•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Eliminates Paper &amp; Courier Losses:</a:t>
            </a:r>
          </a:p>
          <a:p>
            <a:r>
              <a:rPr sz="1050" b="0" i="0">
                <a:solidFill>
                  <a:srgbClr val="000000"/>
                </a:solidFill>
                <a:latin typeface="Calibri"/>
              </a:rPr>
              <a:t>Saves millions annually in physical courier costs, transit insurance, and physical vault storage across 10 regional directorates.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77777"/>
                </a:solidFill>
                <a:latin typeface="Calibri"/>
              </a:rPr>
              <a:t>SMART INDIA HACKATHON 2026 | AICTE REGULATION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Impact &amp; Quantitative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  <a:latin typeface="Calibri"/>
              </a:rPr>
              <a:t>&lt;= 48 Hours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Verification SLA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Reduced from 30-60 days of manual correspondence to automated instant/48h turnaround.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3634091040" y="12801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  <a:latin typeface="Calibri"/>
              </a:rPr>
              <a:t>&lt; 0.5%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Data Discrepancy Rate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AI OCR &amp; mathematical cross-matching reduces transcription errors from 25% to near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7267633440" y="12801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  <a:latin typeface="Calibri"/>
              </a:rPr>
              <a:t>100%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Renewal &amp; Lien Enforcement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Zero unnoticed maturities or unauthorized cash-outs via multi-channel escalation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0901175840" y="12801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  <a:latin typeface="Calibri"/>
              </a:rPr>
              <a:t>&lt;= 7 Days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Calibri"/>
              </a:rPr>
              <a:t>Refund / Release Cycle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Streamlined from 90-180 days to 7 days via automated 3-tier maker-checker signoff.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latin typeface="Calibri"/>
              </a:rPr>
              <a:t>STAKEHOLDER BENEFITS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AICTE Regulation Bureau &amp; HQ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7799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Calibri"/>
              </a:rPr>
              <a:t>Pan-India dashboard displaying real-time security deposit coverage across all approved programs; instant audit readiness with zero missing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587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Regional Offices &amp; Scrutiny Officers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58768"/>
            <a:ext cx="7799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Calibri"/>
              </a:rPr>
              <a:t>Eliminates back-and-forth postal queries; automated OCR pre-fills scrutiny forms and flags discrepancies in red before review starts.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1713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Technical Institutions (Colleges &amp; Universities)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517136"/>
            <a:ext cx="7799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Calibri"/>
              </a:rPr>
              <a:t>Self-service digital vault; transparent tracking of lock-in periods; automated reminders before maturity; timely and hassle-free release of funds.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7550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Partner Commercial Banks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75504"/>
            <a:ext cx="7799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Calibri"/>
              </a:rPr>
              <a:t>Clear electronic demarcation of lien responsibilities; digital confirmation prevents branch liability from illegal manual encashments.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338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Students &amp; Society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833872"/>
            <a:ext cx="7799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Calibri"/>
              </a:rPr>
              <a:t>Guarantees that statutory endowment funds remain secure, safeguarding students against sudden institutional defaults or shutdowns.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77777"/>
                </a:solidFill>
                <a:latin typeface="Calibri"/>
              </a:rPr>
              <a:t>SMART INDIA HACKATHON 2026 | AICTE REGULATION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Research Foundation &amp; Regulatory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STATUTORY &amp; REGULATORY JURISPRUDENCE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[1]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AICTE Act, 1987 (Act No. 52 of 1987):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Section 10(k) and Section 23 empowering Council to enforce norms, standards, and financial viability prerequisites for approvals.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[2]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AICTE Approval Process Handbook (APH) 2024-27: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Chapter I &amp; II norms specifying statutory deposit quantum, 8-10 year lock-in tenure, joint account mandate, and lien procedures.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[3]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Banking Regulation Act, 1949 &amp; RBI Master Directions: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RBI Master Direction on Interest Rate on Deposits (2016, updated 2023) regarding term deposit lien marking, renewal, and foreclosure rules.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[4]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Indian Contract Act, 1872 (Sections 170-171):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Legal delineation of General Banker's Lien vs. Particular Lien; contract to the contrary barring bank set-off on regulatory pledged deposits.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[5]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Digital Personal Data Protection (DPDP) Act, 2023: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Sections 5 &amp; 8: Data minimization, consent architectures, and purpose limitation for trustee and banking official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3258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COMPUTER VISION, FORENSICS &amp; DPI ARCHITECTURE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[6]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Multi-Modal Document Parsing (LayoutLMv3):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Huang et al., 'LayoutLMv3: Pre-training for Document AI with Unified Text and Image Masking', ACM Multimedia 2022.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[7]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Lightweight OCR Extraction (PaddleOCR):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Du et al., 'PP-OCR: A Practical Ultra Lightweight OCR System', arXiv:2009.09941, 2020.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[8]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Image Splicing &amp; Tamper Forensics (Error Level Analysis):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Krawetz, N., 'A Picture's Worth: Digital Image Analysis &amp; Error Level Analysis', Hacker Factor Solutions, 2007.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[9]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Structured Financial Messaging (SFMS) Standards: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Calibri"/>
              </a:rPr>
              <a:t>IFTAS / RBI Standards for Structured Financial Messaging (IFN 760 Bank Guarantee / Collateral Confirmation Message Schema).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[10]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NeSL &amp; Digital Document Execution (DDE):</a:t>
            </a:r>
          </a:p>
          <a:p>
            <a:r>
              <a:rPr sz="950" b="0" i="0">
                <a:solidFill>
                  <a:srgbClr val="000000"/>
                </a:solidFill>
                <a:latin typeface="Calibri"/>
              </a:rPr>
              <a:t>Insolvency and Bankruptcy Board of India (IBBI) Information Utility Regulations, 2017 &amp; NeSL DDE Electronic Stamping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