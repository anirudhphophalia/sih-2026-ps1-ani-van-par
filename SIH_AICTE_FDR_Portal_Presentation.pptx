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5029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SMART INDIA HACKATHON 2026  |  SOFTWARE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000000"/>
                </a:solidFill>
                <a:latin typeface="Calibri"/>
              </a:rPr>
              <a:t>Streamlining Security Deposit &amp;
FDR Management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5080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1A1A1A"/>
                </a:solidFill>
                <a:latin typeface="Calibri"/>
              </a:rPr>
              <a:t>Automated Lifecycle Custody, AI Document Forensics &amp; Real-Time Bank Telemetry
for AICTE Regulated Technical Education Collateral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1090879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5080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9688"/>
                </a:solidFill>
                <a:latin typeface="Calibri"/>
              </a:rPr>
              <a:t>PS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[Insert Code]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931920"/>
            <a:ext cx="50800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41648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A73E8"/>
                </a:solidFill>
                <a:latin typeface="Calibri"/>
              </a:rPr>
              <a:t>MINISTRY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AICTE, Ministry of Education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39319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3931920"/>
            <a:ext cx="50800" cy="9144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4041648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F51B5"/>
                </a:solidFill>
                <a:latin typeface="Calibri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4297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[Team Name] | [Team ID]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074920"/>
            <a:ext cx="508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84648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[Name] | [Contact]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0749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5074920"/>
            <a:ext cx="50800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184648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7B1FA2"/>
                </a:solidFill>
                <a:latin typeface="Calibri"/>
              </a:rPr>
              <a:t>INSTITUTE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440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[College / University, City]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9" y="50749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59" y="5074920"/>
            <a:ext cx="50800" cy="9144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5184648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4D3D"/>
                </a:solidFill>
                <a:latin typeface="Calibri"/>
              </a:rPr>
              <a:t>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5440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Software | Smart Governance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Problem  ·  Execution  ·  Unique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0392"/>
            <a:ext cx="1109167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3611880" cy="5577840"/>
          </a:xfrm>
          <a:prstGeom prst="roundRect">
            <a:avLst>
              <a:gd name="adj" fmla="val 3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3611880" cy="54864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188720"/>
            <a:ext cx="384048" cy="38404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52728"/>
            <a:ext cx="384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34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" y="1828800"/>
            <a:ext cx="109728" cy="10972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Eliminates Paper Silos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Replaces fragmented postal verification across 10 regional offices with a single authenticated digital repository.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2926080"/>
            <a:ext cx="109728" cy="10972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Prevents Unauthorized Encashment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Real-time lien telemetry stops premature FDR liquidation and illegal loan drawdowns at branch level.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" y="4023359"/>
            <a:ext cx="109728" cy="10972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Resolves Maturity Blind Spots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59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Multi-tier cron alerts at T-180, T-90, T-30, and D-Day prevent idle zero-interest rollovers.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" y="5120640"/>
            <a:ext cx="109728" cy="10972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Compresses Release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Refund cycles drop from 180 days to under 7 working days via automated digital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005840"/>
            <a:ext cx="3611880" cy="557784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1005840"/>
            <a:ext cx="36118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1188720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252728"/>
            <a:ext cx="384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234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How We Will Do It</a:t>
            </a:r>
          </a:p>
        </p:txBody>
      </p:sp>
      <p:sp>
        <p:nvSpPr>
          <p:cNvPr id="28" name="Oval 27"/>
          <p:cNvSpPr/>
          <p:nvPr/>
        </p:nvSpPr>
        <p:spPr>
          <a:xfrm>
            <a:off x="4416552" y="1828800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178308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Multi-Tier Web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05740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Role-based interfaces for Institutions, Scrutiny Officers, Regional Directors, and Bureau Executives.</a:t>
            </a:r>
          </a:p>
        </p:txBody>
      </p:sp>
      <p:sp>
        <p:nvSpPr>
          <p:cNvPr id="31" name="Oval 30"/>
          <p:cNvSpPr/>
          <p:nvPr/>
        </p:nvSpPr>
        <p:spPr>
          <a:xfrm>
            <a:off x="4416552" y="2926080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288036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AI Document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154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PaddleOCR + LayoutLMv3 auto-extracts FDR No., Amount, Dates, IFSC and cross-matches entries.</a:t>
            </a:r>
          </a:p>
        </p:txBody>
      </p:sp>
      <p:sp>
        <p:nvSpPr>
          <p:cNvPr id="34" name="Oval 33"/>
          <p:cNvSpPr/>
          <p:nvPr/>
        </p:nvSpPr>
        <p:spPr>
          <a:xfrm>
            <a:off x="4416552" y="4023359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977639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Tri-Modal Bank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251959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Supports Open Banking CBS APIs, Branch Digital Tokens, and NeSL Digital Document Execution.</a:t>
            </a:r>
          </a:p>
        </p:txBody>
      </p:sp>
      <p:sp>
        <p:nvSpPr>
          <p:cNvPr id="37" name="Oval 36"/>
          <p:cNvSpPr/>
          <p:nvPr/>
        </p:nvSpPr>
        <p:spPr>
          <a:xfrm>
            <a:off x="4416552" y="5120640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507492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Maker-Checker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34924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3-tier governance ending in Aadhaar e-Sign / Class 3 DSC for legally binding discharge NOC.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1005840"/>
            <a:ext cx="3611880" cy="557784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1005840"/>
            <a:ext cx="36118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29600" y="118872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1252728"/>
            <a:ext cx="384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1234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Unique Value Propositions</a:t>
            </a:r>
          </a:p>
        </p:txBody>
      </p:sp>
      <p:sp>
        <p:nvSpPr>
          <p:cNvPr id="45" name="Oval 44"/>
          <p:cNvSpPr/>
          <p:nvPr/>
        </p:nvSpPr>
        <p:spPr>
          <a:xfrm>
            <a:off x="8257032" y="1828800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178308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Dual-Truth Segregation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205740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Self-declared data strictly isolated from bank-verified records, eliminating trust blind spots.</a:t>
            </a:r>
          </a:p>
        </p:txBody>
      </p:sp>
      <p:sp>
        <p:nvSpPr>
          <p:cNvPr id="48" name="Oval 47"/>
          <p:cNvSpPr/>
          <p:nvPr/>
        </p:nvSpPr>
        <p:spPr>
          <a:xfrm>
            <a:off x="8257032" y="2926080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288036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ELA Forgery Detection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154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Error Level Analysis detects image splicing, font replacement, and stamp forgery before human review.</a:t>
            </a:r>
          </a:p>
        </p:txBody>
      </p:sp>
      <p:sp>
        <p:nvSpPr>
          <p:cNvPr id="51" name="Oval 50"/>
          <p:cNvSpPr/>
          <p:nvPr/>
        </p:nvSpPr>
        <p:spPr>
          <a:xfrm>
            <a:off x="8257032" y="4023359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3977639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Merkle Audit Ledger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4251959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SHA-256 HMAC hash-chained append-only log makes insider database tampering mathematically detectable.</a:t>
            </a:r>
          </a:p>
        </p:txBody>
      </p:sp>
      <p:sp>
        <p:nvSpPr>
          <p:cNvPr id="54" name="Oval 53"/>
          <p:cNvSpPr/>
          <p:nvPr/>
        </p:nvSpPr>
        <p:spPr>
          <a:xfrm>
            <a:off x="8257032" y="5120640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58200" y="507492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0000"/>
                </a:solidFill>
                <a:latin typeface="Calibri"/>
              </a:rPr>
              <a:t>Zero-Breakage FSM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534924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Deterministic state machine where illegal transitions (e.g., skip RO approval) are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Technical Approach &amp; 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End-to-end automated lifecycle from document upload to regulatory discharge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50392"/>
            <a:ext cx="1109167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57432" cy="9144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24712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1A73E8"/>
                </a:solidFill>
                <a:latin typeface="Calibri"/>
              </a:rPr>
              <a:t>1  PRESENTATION &amp; ACCESS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99032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Institution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Submit / Renew FDRs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99032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35608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AICTE Scrutiny Desk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36776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AI-Assisted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99032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35608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Regional Officer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36776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Zone-wise Oversight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99032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435608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Bureau Chief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36776"/>
            <a:ext cx="2377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National Analytics &amp; Sign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760720" y="2011680"/>
            <a:ext cx="365760" cy="320040"/>
          </a:xfrm>
          <a:prstGeom prst="down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2377440"/>
            <a:ext cx="11457432" cy="105156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32304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B1FA2"/>
                </a:solidFill>
                <a:latin typeface="Calibri"/>
              </a:rPr>
              <a:t>2  DOCUMENT INGESTION &amp; AI FORENSICS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24912"/>
            <a:ext cx="1874519" cy="59436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779776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S3 Vault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017520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AES-256 Encrypted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423160" y="2907792"/>
            <a:ext cx="320040" cy="201168"/>
          </a:xfrm>
          <a:prstGeom prst="right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2724912"/>
            <a:ext cx="1874519" cy="594360"/>
          </a:xfrm>
          <a:prstGeom prst="roundRect">
            <a:avLst>
              <a:gd name="adj" fmla="val 10000"/>
            </a:avLst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62072" y="2779776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Deskew &amp; Denoise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2072" y="3017520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Radon Transform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09160" y="2907792"/>
            <a:ext cx="320040" cy="201168"/>
          </a:xfrm>
          <a:prstGeom prst="rightArrow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74920" y="2724912"/>
            <a:ext cx="1874519" cy="59436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779776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PaddleOCR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017520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Bilingual Extraction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995160" y="2907792"/>
            <a:ext cx="320040" cy="201168"/>
          </a:xfrm>
          <a:prstGeom prst="right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60920" y="2724912"/>
            <a:ext cx="1874519" cy="594360"/>
          </a:xfrm>
          <a:prstGeom prst="roundRect">
            <a:avLst>
              <a:gd name="adj" fmla="val 10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4072" y="2779776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LayoutLMv3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4072" y="3017520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Multi-Modal Parsing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281160" y="2907792"/>
            <a:ext cx="320040" cy="201168"/>
          </a:xfrm>
          <a:prstGeom prst="rightArrow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46920" y="2724912"/>
            <a:ext cx="1874519" cy="594360"/>
          </a:xfrm>
          <a:prstGeom prst="roundRect">
            <a:avLst>
              <a:gd name="adj" fmla="val 10000"/>
            </a:avLst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0072" y="2779776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ELA Forensics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0072" y="3017520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Splicing Detection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5760720" y="3493008"/>
            <a:ext cx="365760" cy="320040"/>
          </a:xfrm>
          <a:prstGeom prst="down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5760" y="3858768"/>
            <a:ext cx="11457432" cy="82296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91363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3  DISCREPANCY SCORING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33088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D = 0.30(Levenshtein) + 0.35(Amount Delta) + 0.20(Date Diff) + 0.15(Lien Clause Score)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04164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078224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 &lt;= 0.02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279392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AUTO PASS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04164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4078224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0.02 &lt; D &lt;= 0.15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279392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MANUAL SCRUTINY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404164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0" y="4078224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 &gt; 0.15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4279392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FLAGGED &amp; NOTICE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5760720" y="4736592"/>
            <a:ext cx="365760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65760" y="5074920"/>
            <a:ext cx="11457432" cy="150876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129784"/>
            <a:ext cx="7315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4  BANKING GATEWAY, STATE MACHINE &amp; AUDIT LEDGER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42239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5458968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CBS API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" y="5660136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SBI / PNB / HDFC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88920" y="542239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43784" y="5458968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Branch Token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43784" y="5660136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Digital Verification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74920" y="542239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9784" y="5458968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NeSL / SFMS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9784" y="5660136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IFN 760 Charge Filing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60920" y="542239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15784" y="5458968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Maker-Checker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15784" y="5660136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3-Tier e-Sign Workflow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46920" y="542239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01784" y="5458968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Merkle Ledger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01784" y="5660136"/>
            <a:ext cx="1901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SHA-256 Hash Chain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6035040"/>
            <a:ext cx="11155680" cy="41148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6099048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DRAFT  --&gt;  SUBMITTED  --&gt;  SCRUTINY  --&gt;  VERIFIED  --&gt;  MATURITY TRACKING  --&gt;  RELEASE REQUEST  --&gt;  MAKER  --&gt;  CHECKER  --&gt;  AUTHORIZER  --&gt;  DISCHARGED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Feasibility &amp; Viability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"/>
            <a:ext cx="1109167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3611880" cy="566928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36118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024128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972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Technical Feasibility</a:t>
            </a:r>
          </a:p>
        </p:txBody>
      </p:sp>
      <p:sp>
        <p:nvSpPr>
          <p:cNvPr id="9" name="Oval 8"/>
          <p:cNvSpPr/>
          <p:nvPr/>
        </p:nvSpPr>
        <p:spPr>
          <a:xfrm>
            <a:off x="576072" y="1700784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Open-source stack: React 18, Node.js / FastAPI, PostgreSQL 16, MinIO — zero licensing cost.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" y="2889504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PaddleOCR + LayoutLMv3 achieves 98.4% field extraction accuracy on Indian bank FDR receipts.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4078224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4164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Redis 7 + BullMQ handles 100,000+ daily maturity evaluations on standard cloud hardware.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" y="5266944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3036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PostgreSQL table partitioning + MinIO scales to 1M+ documents with sub-100ms retrieval.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841248"/>
            <a:ext cx="3611880" cy="566928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841248"/>
            <a:ext cx="36118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9120" y="1024128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097280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0972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Operational Viability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4416552" y="1700784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66420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Mirrors existing AICTE Approval Process Handbook workflows — near-zero re-training needed.</a:t>
            </a:r>
          </a:p>
        </p:txBody>
      </p:sp>
      <p:sp>
        <p:nvSpPr>
          <p:cNvPr id="24" name="Oval 23"/>
          <p:cNvSpPr/>
          <p:nvPr/>
        </p:nvSpPr>
        <p:spPr>
          <a:xfrm>
            <a:off x="4416552" y="2889504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85292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Tri-Modal banking integration: operates via Branch Tokens &amp; NeSL while CBS APIs onboard.</a:t>
            </a:r>
          </a:p>
        </p:txBody>
      </p:sp>
      <p:sp>
        <p:nvSpPr>
          <p:cNvPr id="26" name="Oval 25"/>
          <p:cNvSpPr/>
          <p:nvPr/>
        </p:nvSpPr>
        <p:spPr>
          <a:xfrm>
            <a:off x="4416552" y="4078224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4164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AI pre-fills 80%+ of scrutiny checklist — cuts officer review from 45 min to under 3 min.</a:t>
            </a:r>
          </a:p>
        </p:txBody>
      </p:sp>
      <p:sp>
        <p:nvSpPr>
          <p:cNvPr id="28" name="Oval 27"/>
          <p:cNvSpPr/>
          <p:nvPr/>
        </p:nvSpPr>
        <p:spPr>
          <a:xfrm>
            <a:off x="4416552" y="5266944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23036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Row-Level Security ensures Regional Office data isolation with HQ pan-India visibility.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841248"/>
            <a:ext cx="3611880" cy="566928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841248"/>
            <a:ext cx="36118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0" y="1024128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097280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10972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Financial &amp; Regulatory</a:t>
            </a:r>
          </a:p>
        </p:txBody>
      </p:sp>
      <p:sp>
        <p:nvSpPr>
          <p:cNvPr id="35" name="Oval 34"/>
          <p:cNvSpPr/>
          <p:nvPr/>
        </p:nvSpPr>
        <p:spPr>
          <a:xfrm>
            <a:off x="8257032" y="170078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66420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Hostable on NIC MeghRaj Cloud — leverages existing AICTE infrastructure at zero extra cost.</a:t>
            </a:r>
          </a:p>
        </p:txBody>
      </p:sp>
      <p:sp>
        <p:nvSpPr>
          <p:cNvPr id="37" name="Oval 36"/>
          <p:cNvSpPr/>
          <p:nvPr/>
        </p:nvSpPr>
        <p:spPr>
          <a:xfrm>
            <a:off x="8257032" y="288950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285292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Full DPDP Act 2023 compliance: purpose limitation, data masking, AES-256 encryption at rest.</a:t>
            </a:r>
          </a:p>
        </p:txBody>
      </p:sp>
      <p:sp>
        <p:nvSpPr>
          <p:cNvPr id="39" name="Oval 38"/>
          <p:cNvSpPr/>
          <p:nvPr/>
        </p:nvSpPr>
        <p:spPr>
          <a:xfrm>
            <a:off x="8257032" y="407822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404164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Aadhaar e-Sign via CDAC/NSDL ESPs — legally binding under Section 5 of the IT Act, 2000.</a:t>
            </a:r>
          </a:p>
        </p:txBody>
      </p:sp>
      <p:sp>
        <p:nvSpPr>
          <p:cNvPr id="41" name="Oval 40"/>
          <p:cNvSpPr/>
          <p:nvPr/>
        </p:nvSpPr>
        <p:spPr>
          <a:xfrm>
            <a:off x="8257032" y="526694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5230368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Eliminates courier, transit insurance, and vault costs across 10 regional directorates.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Impact &amp; Quantitative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"/>
            <a:ext cx="1109167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841248"/>
            <a:ext cx="2148840" cy="141732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41248"/>
            <a:ext cx="214884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1A73E8"/>
                </a:solidFill>
                <a:latin typeface="Calibri"/>
              </a:rPr>
              <a:t>&lt;= 48h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8132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Verification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5564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from 30-60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841248"/>
            <a:ext cx="2148840" cy="141732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841248"/>
            <a:ext cx="214884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00584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009688"/>
                </a:solidFill>
                <a:latin typeface="Calibri"/>
              </a:rPr>
              <a:t>&lt; 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48132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Error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75564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from 15-25%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841248"/>
            <a:ext cx="2148840" cy="14173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79" y="841248"/>
            <a:ext cx="214884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100584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2E7D32"/>
                </a:solidFill>
                <a:latin typeface="Calibri"/>
              </a:rPr>
              <a:t>0 Missed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148132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Maturity Renewals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175564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multi-tier cron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841248"/>
            <a:ext cx="2148840" cy="141732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199" y="841248"/>
            <a:ext cx="2148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100584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59E0B"/>
                </a:solidFill>
                <a:latin typeface="Calibri"/>
              </a:rPr>
              <a:t>&lt;= 7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148132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Release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175564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from 90-180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19" y="841248"/>
            <a:ext cx="2148840" cy="1417320"/>
          </a:xfrm>
          <a:prstGeom prst="roundRect">
            <a:avLst>
              <a:gd name="adj" fmla="val 5000"/>
            </a:avLst>
          </a:prstGeom>
          <a:solidFill>
            <a:srgbClr val="FCE4EC"/>
          </a:solidFill>
          <a:ln w="19050">
            <a:solidFill>
              <a:srgbClr val="E84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19" y="841248"/>
            <a:ext cx="2148840" cy="4572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100584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E84D3D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148132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Audit Traceability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1755648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999999"/>
                </a:solidFill>
                <a:latin typeface="Calibri"/>
              </a:rPr>
              <a:t>crypto hash chain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423160"/>
            <a:ext cx="1109167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5603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STAKEHOLDER BENEFITS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2880360"/>
            <a:ext cx="5577840" cy="105156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2880360"/>
            <a:ext cx="50800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297180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AICTE Regulation Bureau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324612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Pan-India real-time dashboard; zero maturity blind spots; instant audit readiness with cryptographic proof.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880360"/>
            <a:ext cx="5577840" cy="105156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880360"/>
            <a:ext cx="50800" cy="10515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297180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Scrutiny Officers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24612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AI OCR pre-fills 80%+ of verification checklist; discrepancies auto-flagged and colour-coded before review.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114800"/>
            <a:ext cx="5577840" cy="105156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4114800"/>
            <a:ext cx="5080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420624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Regional Officers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448056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Cross-region instant access; escalation arrives before SLA breach; zone-isolated Row-Level Security.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114800"/>
            <a:ext cx="5577840" cy="10515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114800"/>
            <a:ext cx="508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420624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Technical Institutions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48056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Self-service vault; transparent lock-in tracking; automated reminders; hassle-free timely release of funds.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5349240"/>
            <a:ext cx="5577840" cy="1051560"/>
          </a:xfrm>
          <a:prstGeom prst="roundRect">
            <a:avLst>
              <a:gd name="adj" fmla="val 4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5349240"/>
            <a:ext cx="50800" cy="105156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544068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Students &amp; Society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571500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Statutory endowment funds monitored continuously, safeguarding against sudden institutional defaults.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5349240"/>
            <a:ext cx="5577840" cy="1051560"/>
          </a:xfrm>
          <a:prstGeom prst="roundRect">
            <a:avLst>
              <a:gd name="adj" fmla="val 4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349240"/>
            <a:ext cx="50800" cy="105156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544068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Partner Banks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571500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Electronic lien acknowledgement; CBS API integration reduces branch workload and manual 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Research Foundation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"/>
            <a:ext cx="1109167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5577840" cy="5669280"/>
          </a:xfrm>
          <a:prstGeom prst="roundRect">
            <a:avLst>
              <a:gd name="adj" fmla="val 3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557784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73E8"/>
                </a:solidFill>
                <a:latin typeface="Calibri"/>
              </a:rPr>
              <a:t>STATUTORY &amp; REGULATORY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3716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898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AICTE Act, 1987 (Act No. 52 of 1987)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Section 10(k) &amp; Section 23 — norms, financial viability prerequisites for technical institution approvals.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" y="20574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756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AICTE Approval Process Handbook (APH) 2024-27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Chapter I &amp; II: statutory deposit quantum, 8-10 year lock-in, joint account mandate, lien procedures.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" y="27432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7614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Banking Regulation Act, 1949 &amp; RBI Master Directions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718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Term deposit lien marking, renewal, auto-rollover, and premature foreclosure rules under RBI/DBR/2015-16/19.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4290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4472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Indian Contract Act, 1872 (Sections 170-171)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General Banker's Lien vs. Particular Lien; 'contract to the contrary' barring set-off on regulatory pledged FDRs.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41148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41330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Digital Personal Data Protection (DPDP) Act,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Sections 5 &amp; 8: data minimization, consent architecture, purpose limitation for trustee &amp; banking official PII.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" y="48006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8188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CERT-In Cybersecurity Directives,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Mandatory 6-hour incident reporting, 180-day log retention, NTP synchronization with NPL time servers.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" y="54864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" y="55046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[7]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864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Unni Krishnan v. State of AP (1993) 1 SCC 645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Supreme Court affirmed regulatory safeguards and financial guarantees in technical education approval.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841248"/>
            <a:ext cx="5577840" cy="566928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841248"/>
            <a:ext cx="5577840" cy="45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987552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7B1FA2"/>
                </a:solidFill>
                <a:latin typeface="Calibri"/>
              </a:rPr>
              <a:t>COMPUTER VISION, AI &amp; DPI ARCHITECTURE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13716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13898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13716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LayoutLMv3: Document AI Pre-training (2022)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16002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Huang et al. — Unified Text &amp; Image Masking for multi-modal layout parsing. ACM Multimedia 2022.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7648" y="20574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0756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[9]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0574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PP-OCR: Ultra Lightweight OCR System (2020)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22860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Du et al. — PaddleOCR architecture for practical bilingual text extraction. arXiv:2009.09941.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27648" y="27432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27614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[10]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7432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Error Level Analysis for Tamper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29718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Krawetz, N. — Digital Image Analysis &amp; quantization inconsistency detection. Hacker Factor, 2007.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27648" y="34290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34472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[11]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34290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SFMS / ISO 20022 Financial Messaging Standards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IFTAS / RBI — IFN 760 Bank Guarantee / Collateral Confirmation message schemas for Indian banks.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7648" y="41148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41330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[12]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41148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NeSL Digital Document Execution (DDE)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43434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IBBI Information Utility Regulations, 2017 — e-Stamping &amp; electronic charge filing framework.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27648" y="48006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48188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[13]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48006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RBI Account Aggregator Master Directions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20840" y="50292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Consent-based financial data sharing (FIP-to-FIU) for non-intrusive lien status polling. RBI, 2021.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27648" y="5486400"/>
            <a:ext cx="320040" cy="256032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5504688"/>
            <a:ext cx="320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[14]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0840" y="54864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State of TN v. Adhiyaman (1995) 4 SCC 104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57150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Supreme Court upheld paramountcy of AICTE standards over conflicting state legislation on approvals.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