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LEGACY MODERNIZATION &amp; BACKLOG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Legacy Physical Records Digitization &amp; Historical Data Ingestion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Over 50,000 legacy physical FDR files and letters are archived across 10 Regional Offices. Retrieving a single legacy deposit record manually takes up to 60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High-throughput batch scanner, OpenCV contrast restoration, LayoutLMv3 table extraction, and RapidFuzz PID entity linkage with a split-screen 10-second review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BATCH INGESTION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Image Normalization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High-Speed Batch Scanner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Ingests multi-page batch PDF/TIFF files of </a:t>
            </a:r>
            <a:r>
              <a:rPr sz="800" b="1">
                <a:solidFill>
                  <a:srgbClr val="0F172A"/>
                </a:solidFill>
                <a:latin typeface="Calibri"/>
              </a:rPr>
              <a:t>aged physical FDR receipts and correspondence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10128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364992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OpenCV CLAHE &amp; Deskew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Adaptive histogram equalization and Otsu thresholding </a:t>
            </a:r>
            <a:r>
              <a:rPr sz="800" b="1">
                <a:solidFill>
                  <a:srgbClr val="0F172A"/>
                </a:solidFill>
                <a:latin typeface="Calibri"/>
              </a:rPr>
              <a:t>restores faded dot-matrix print and corrects skew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88536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43400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Stamp &amp; Seal Anchoring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Automated region-of-interest cropping using </a:t>
            </a:r>
            <a:r>
              <a:rPr sz="800" b="1">
                <a:solidFill>
                  <a:srgbClr val="0F172A"/>
                </a:solidFill>
                <a:latin typeface="Calibri"/>
              </a:rPr>
              <a:t>AICTE regional inward stamps and bank seals</a:t>
            </a:r>
            <a:r>
              <a:rPr sz="800" b="0">
                <a:solidFill>
                  <a:srgbClr val="334155"/>
                </a:solidFill>
                <a:latin typeface="Calibri"/>
              </a:rPr>
              <a:t> as geometric anchors.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2032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AI EXTRACTION &amp; ENTITY LINK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RapidFuzz &amp; Layout Parser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33172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386584"/>
            <a:ext cx="3785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LayoutLMv3 Spatial Table Parser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Converts complex unstructured paper layouts into verified JSON data: </a:t>
            </a:r>
            <a:r>
              <a:rPr sz="800" b="1">
                <a:solidFill>
                  <a:srgbClr val="0F172A"/>
                </a:solidFill>
                <a:latin typeface="Calibri"/>
              </a:rPr>
              <a:t>FDR Number, Principal Amount, Bank Branch, and Maturity Date</a:t>
            </a:r>
            <a:r>
              <a:rPr sz="800" b="0">
                <a:solidFill>
                  <a:srgbClr val="334155"/>
                </a:solidFill>
                <a:latin typeface="Calibri"/>
              </a:rPr>
              <a:t>. Disambiguates irregular column baselines.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JSON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70332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3758184"/>
            <a:ext cx="37856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RapidFuzz Levenshtein PID Linker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Resolves historical institutional naming variations (e.g., </a:t>
            </a:r>
            <a:r>
              <a:rPr sz="800" b="1">
                <a:solidFill>
                  <a:srgbClr val="0F172A"/>
                </a:solidFill>
                <a:latin typeface="Calibri"/>
              </a:rPr>
              <a:t>'St. Xavier Engg' vs 'St. Xavier's College of Engineering'</a:t>
            </a:r>
            <a:r>
              <a:rPr sz="800" b="0">
                <a:solidFill>
                  <a:srgbClr val="334155"/>
                </a:solidFill>
                <a:latin typeface="Calibri"/>
              </a:rPr>
              <a:t>) and maps records automatically to the </a:t>
            </a:r>
            <a:r>
              <a:rPr sz="800" b="1">
                <a:solidFill>
                  <a:srgbClr val="0F172A"/>
                </a:solidFill>
                <a:latin typeface="Calibri"/>
              </a:rPr>
              <a:t>AICTE Master Permanent Institute ID (PID)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PID MATCHER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DUAL-QUEUE OUTPUT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Verification &amp; Seeding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2331720"/>
            <a:ext cx="25877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2386584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Match Score &gt;= 95%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Directly committed into the PostgreSQL active FDR ledger. </a:t>
            </a:r>
            <a:r>
              <a:rPr sz="800" b="1">
                <a:solidFill>
                  <a:srgbClr val="0F172A"/>
                </a:solidFill>
                <a:latin typeface="Calibri"/>
              </a:rPr>
              <a:t>Physical records are certified and cleared for permanent archival or destruction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AUTO-SEED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70332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7112" y="3758184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Match Score &lt; 95%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Routed to split-screen Fast-Tagger UI: Scanned document on left, pre-populated AI fields on right. Scrutiny officers verify within </a:t>
            </a:r>
            <a:r>
              <a:rPr sz="800" b="1">
                <a:solidFill>
                  <a:srgbClr val="0F172A"/>
                </a:solidFill>
                <a:latin typeface="Calibri"/>
              </a:rPr>
              <a:t>10 seconds using keyboard shortcuts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168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D97706"/>
                </a:solidFill>
                <a:latin typeface="Calibri"/>
              </a:rPr>
              <a:t>FAST TAGGER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Eliminates 30 years of paper backlog across 10 Regional Offices. Converts physical archives into an instantly searchable, tamper-evident digital master database with over 90% manual effort reduction.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OpenCV CLAHE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PaddleOCR v4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RapidFuzz C++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PostgreSQL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COMPUTER VISION &amp; DOCUMENT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Hierarchical Multi-Model Ensemble OCR with Intelligent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Single rigid OCR engines fail on faded dot-matrix print, physical rubber stamps, and handwritten cursive branch manager endorsements.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Dynamic Neural Routing: Ingested scans are evaluated for image quality and routed across PaddleOCR (&lt;300ms), LayoutLMv3 table segmentation, and Microsoft TrOCR handwriting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PRE-FLIGHT TRIAGE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Quality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Laplacian Blur Evaluator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Measures edge sharpness via </a:t>
            </a:r>
            <a:r>
              <a:rPr sz="800" b="1">
                <a:solidFill>
                  <a:srgbClr val="0F172A"/>
                </a:solidFill>
                <a:latin typeface="Calibri"/>
              </a:rPr>
              <a:t>cv2.Laplacian() variance</a:t>
            </a:r>
            <a:r>
              <a:rPr sz="800" b="0">
                <a:solidFill>
                  <a:srgbClr val="334155"/>
                </a:solidFill>
                <a:latin typeface="Calibri"/>
              </a:rPr>
              <a:t>. Scans below threshold undergo unsharp masking and binarization prior to optical recognition.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58184"/>
            <a:ext cx="25968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Geometry &amp; Layout Classifier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Automatically classifies incoming documents into: </a:t>
            </a:r>
            <a:r>
              <a:rPr sz="800" b="1">
                <a:solidFill>
                  <a:srgbClr val="0F172A"/>
                </a:solidFill>
                <a:latin typeface="Calibri"/>
              </a:rPr>
              <a:t>Standard Machine-Printed, Multi-Column Tabular Matrix, or Cursive Handwritten Endorsement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2032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MULTI-MODEL ROUTES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Specialized Neural Engines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Route A: PaddleOCR PP-OCRv4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F172A"/>
                </a:solidFill>
                <a:latin typeface="Calibri"/>
              </a:rPr>
              <a:t>Sub-300ms high-throughput inference</a:t>
            </a:r>
            <a:r>
              <a:rPr sz="800" b="0">
                <a:solidFill>
                  <a:srgbClr val="334155"/>
                </a:solidFill>
                <a:latin typeface="Calibri"/>
              </a:rPr>
              <a:t> delivering 98.4% precision on numerical fields, FDR numbers, and IFSC codes.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HIGH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Route B: LayoutLMv3 Multi-Modal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Integrates visual layout coordinates with linguistic tokens to </a:t>
            </a:r>
            <a:r>
              <a:rPr sz="800" b="1">
                <a:solidFill>
                  <a:srgbClr val="0F172A"/>
                </a:solidFill>
                <a:latin typeface="Calibri"/>
              </a:rPr>
              <a:t>disambiguate Principal vs Maturity columns</a:t>
            </a:r>
            <a:r>
              <a:rPr sz="800" b="0">
                <a:solidFill>
                  <a:srgbClr val="334155"/>
                </a:solidFill>
                <a:latin typeface="Calibri"/>
              </a:rPr>
              <a:t> in complex banking deposit certificates.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TABLE PARSER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Route C: Microsoft TrOCR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Transformer-based sequence recognition trained on </a:t>
            </a:r>
            <a:r>
              <a:rPr sz="800" b="1">
                <a:solidFill>
                  <a:srgbClr val="0F172A"/>
                </a:solidFill>
                <a:latin typeface="Calibri"/>
              </a:rPr>
              <a:t>cursive handwriting, branch manager lien endorsements, and rubber stamps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D97706"/>
                </a:solidFill>
                <a:latin typeface="Calibri"/>
              </a:rPr>
              <a:t>HANDWRITING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🗳️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ENSEMBLE CONSENSUS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Confidence Evaluation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331720"/>
            <a:ext cx="25877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2386584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Confidence Score &gt;= 0.88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Cross-model voting confirmation. </a:t>
            </a:r>
            <a:r>
              <a:rPr sz="800" b="1">
                <a:solidFill>
                  <a:srgbClr val="0F172A"/>
                </a:solidFill>
                <a:latin typeface="Calibri"/>
              </a:rPr>
              <a:t>Automatically populates database fields</a:t>
            </a:r>
            <a:r>
              <a:rPr sz="800" b="0">
                <a:solidFill>
                  <a:srgbClr val="334155"/>
                </a:solidFill>
                <a:latin typeface="Calibri"/>
              </a:rPr>
              <a:t> and advances deposit instrument to bank telemetry validation without clerk overhead.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AUTO-PASS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70332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758184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Confidence Score &lt; 0.88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Triggers side-by-side visual diff highlighting discrepancies in amber for </a:t>
            </a:r>
            <a:r>
              <a:rPr sz="800" b="1">
                <a:solidFill>
                  <a:srgbClr val="0F172A"/>
                </a:solidFill>
                <a:latin typeface="Calibri"/>
              </a:rPr>
              <a:t>one-click confirmation by Regional Scrutiny Officers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DIFF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Replaces rigid single-engine OCR with an adaptive multi-model neural pipeline, elevating optical extraction accuracy from 74% to 99.2% across diverse banking receipts nationwide.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PaddleOCR PP-OCRv4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LayoutLMv3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Microsoft TrOCR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FastAPI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SECURITY &amp; ANTI-FRAUD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AI Document Forensics &amp; Tamper Detection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Digital image manipulation tools enable fraudulent alteration of deposit amounts from 5 Lakhs to 50 Lakhs, which is undetectable to the human eye on scanned copies.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Zero-Trust Image Forensics: Error Level Analysis (ELA) isolates compression variance in modified JPEG pixels, combined with EXIF software provenance and font kerning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INGESTION &amp; SANDBOX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Zero-Trust Perimeter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MinIO S3 Vault Storage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Uploaded deposit certificates are stored under </a:t>
            </a:r>
            <a:r>
              <a:rPr sz="800" b="1">
                <a:solidFill>
                  <a:srgbClr val="0F172A"/>
                </a:solidFill>
                <a:latin typeface="Calibri"/>
              </a:rPr>
              <a:t>server-side AES-256 encryption</a:t>
            </a:r>
            <a:r>
              <a:rPr sz="800" b="0">
                <a:solidFill>
                  <a:srgbClr val="334155"/>
                </a:solidFill>
                <a:latin typeface="Calibri"/>
              </a:rPr>
              <a:t> with immediate SHA-256 cryptographic hash pinning.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58184"/>
            <a:ext cx="25968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Raw Signal Decomposition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Decompresses raster data into an </a:t>
            </a:r>
            <a:r>
              <a:rPr sz="800" b="1">
                <a:solidFill>
                  <a:srgbClr val="0F172A"/>
                </a:solidFill>
                <a:latin typeface="Calibri"/>
              </a:rPr>
              <a:t>uncompressed RGB pixel matrix</a:t>
            </a:r>
            <a:r>
              <a:rPr sz="800" b="0">
                <a:solidFill>
                  <a:srgbClr val="334155"/>
                </a:solidFill>
                <a:latin typeface="Calibri"/>
              </a:rPr>
              <a:t> to prevent re-compression artifacts from masking tampering.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2032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TRI-VECTOR INSPECTION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Forensic Probe Pipelines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Probe 1: Error Level Analysis (ELA)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Resaves file at fixed 95% JPEG quality. </a:t>
            </a:r>
            <a:r>
              <a:rPr sz="800" b="1">
                <a:solidFill>
                  <a:srgbClr val="0F172A"/>
                </a:solidFill>
                <a:latin typeface="Calibri"/>
              </a:rPr>
              <a:t>Digitally manipulated pixels exhibit pronounced error intensity deltas</a:t>
            </a:r>
            <a:r>
              <a:rPr sz="800" b="0">
                <a:solidFill>
                  <a:srgbClr val="334155"/>
                </a:solidFill>
                <a:latin typeface="Calibri"/>
              </a:rPr>
              <a:t> against unchanged scan areas.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JPEG SPLICING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Probe 2: EXIF &amp; Software Signatures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Extracts metadata headers to detect signatures of </a:t>
            </a:r>
            <a:r>
              <a:rPr sz="800" b="1">
                <a:solidFill>
                  <a:srgbClr val="0F172A"/>
                </a:solidFill>
                <a:latin typeface="Calibri"/>
              </a:rPr>
              <a:t>Adobe Photoshop, Canva, GIMP, iLovePDF</a:t>
            </a:r>
            <a:r>
              <a:rPr sz="800" b="0">
                <a:solidFill>
                  <a:srgbClr val="334155"/>
                </a:solidFill>
                <a:latin typeface="Calibri"/>
              </a:rPr>
              <a:t>, or scrubbed scanner hardware tags.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D97706"/>
                </a:solidFill>
                <a:latin typeface="Calibri"/>
              </a:rPr>
              <a:t>PROVENANCE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Probe 3: Font &amp; Kerning Jitter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Examines baseline collinearity across digits. </a:t>
            </a:r>
            <a:r>
              <a:rPr sz="800" b="1">
                <a:solidFill>
                  <a:srgbClr val="0F172A"/>
                </a:solidFill>
                <a:latin typeface="Calibri"/>
              </a:rPr>
              <a:t>Detects resolution mismatches, character blurring, and font over-typing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PIXEL GEOMETRY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⚖️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POLICY ENFORCER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Automated Triage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331720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2386584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Score 0 - 30 : Clean Scan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Authentic provenance confirmed. </a:t>
            </a:r>
            <a:r>
              <a:rPr sz="800" b="1">
                <a:solidFill>
                  <a:srgbClr val="0F172A"/>
                </a:solidFill>
                <a:latin typeface="Calibri"/>
              </a:rPr>
              <a:t>Auto-cleared</a:t>
            </a:r>
            <a:r>
              <a:rPr sz="800" b="0">
                <a:solidFill>
                  <a:srgbClr val="334155"/>
                </a:solidFill>
                <a:latin typeface="Calibri"/>
              </a:rPr>
              <a:t> for Bank Verification Gateway.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CLEAN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310128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364992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Score 31 - 70 : Suspicious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Moderate anomaly detected. Escalated to </a:t>
            </a:r>
            <a:r>
              <a:rPr sz="800" b="1">
                <a:solidFill>
                  <a:srgbClr val="0F172A"/>
                </a:solidFill>
                <a:latin typeface="Calibri"/>
              </a:rPr>
              <a:t>Forensic Scrutiny Queue</a:t>
            </a:r>
            <a:r>
              <a:rPr sz="800" b="0">
                <a:solidFill>
                  <a:srgbClr val="334155"/>
                </a:solidFill>
                <a:latin typeface="Calibri"/>
              </a:rPr>
              <a:t> with ELA difference overlay.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D97706"/>
                </a:solidFill>
                <a:latin typeface="Calibri"/>
              </a:rPr>
              <a:t>SUSPICIOUS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4288536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4343400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Score 71 - 100 : Fraud Alert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Tampering verified. </a:t>
            </a:r>
            <a:r>
              <a:rPr sz="800" b="1">
                <a:solidFill>
                  <a:srgbClr val="0F172A"/>
                </a:solidFill>
                <a:latin typeface="Calibri"/>
              </a:rPr>
              <a:t>File frozen, hash blacklisted, and notification dispatched to Chief Vigilance Officer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88168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FRAUD BLOCK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Prevents multi-crore financial collateral fraud by programmatically identifying synthetic, photoshopped, or digitally altered deposit receipts within 2 seconds of ingestion.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Pillow &amp; NumPy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PyPDF2 / ExifRead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MinIO S3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OpenCV CLAHE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CRYPTOGRAPHY &amp; IMMUTABLE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Military-Grade Cryptographic Ledger &amp; Defense-in-Depth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Internal data manipulation risks: Rogue database administrators or compromised credentials could illicitly update deposit statuses to 'RELEASED' or alter monetary balances.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Merkle Hash Chaining: Each lifecycle event is cryptographically sealed using HMAC-SHA256. A 60-second sentinel daemon breaks instantly upon direct SQL manipulation.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ZERO-TRUST INGRESS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Perimeter Access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Row-Level Security (RLS)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Enforces granular database partitioning: Regional Officers are strictly isolated to </a:t>
            </a:r>
            <a:r>
              <a:rPr sz="800" b="1">
                <a:solidFill>
                  <a:srgbClr val="0F172A"/>
                </a:solidFill>
                <a:latin typeface="Calibri"/>
              </a:rPr>
              <a:t>their assigned geographic jurisdiction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10128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364992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Four-Eyes Maker-Checker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Enforces dual-authorization: The officer submitting a deposit release request </a:t>
            </a:r>
            <a:r>
              <a:rPr sz="800" b="1">
                <a:solidFill>
                  <a:srgbClr val="0F172A"/>
                </a:solidFill>
                <a:latin typeface="Calibri"/>
              </a:rPr>
              <a:t>cannot approve or authorize the release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88536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43400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AES-256-GCM Field Vault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Sensitive fields (Account Numbers, IFSC, PAN) are </a:t>
            </a:r>
            <a:r>
              <a:rPr sz="800" b="1">
                <a:solidFill>
                  <a:srgbClr val="0F172A"/>
                </a:solidFill>
                <a:latin typeface="Calibri"/>
              </a:rPr>
              <a:t>encrypted at rest using hardware master HSM keys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2032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⛓️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MERKLE HASH CHAINING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State Mutation Blocks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Block #1: Genesis State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F172A"/>
                </a:solidFill>
                <a:latin typeface="Calibri"/>
              </a:rPr>
              <a:t>Hash_1 = SHA256(Payload + Seed_0). </a:t>
            </a:r>
            <a:r>
              <a:rPr sz="800" b="0">
                <a:solidFill>
                  <a:srgbClr val="334155"/>
                </a:solidFill>
                <a:latin typeface="Calibri"/>
              </a:rPr>
              <a:t>Permanently anchors institutional PID, deposit amount, IFSC, and intake timestamp.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GENESIS BLOCK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Block #2: Bank Lien Confirmed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F172A"/>
                </a:solidFill>
                <a:latin typeface="Calibri"/>
              </a:rPr>
              <a:t>Hash_2 = HMAC(BankData + Hash_1, Key). </a:t>
            </a:r>
            <a:r>
              <a:rPr sz="800" b="0">
                <a:solidFill>
                  <a:srgbClr val="334155"/>
                </a:solidFill>
                <a:latin typeface="Calibri"/>
              </a:rPr>
              <a:t>Binds bank transaction tokens directly to Block #1.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MUTATION BLOCK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Block #3: Bureau Release NOC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F172A"/>
                </a:solidFill>
                <a:latin typeface="Calibri"/>
              </a:rPr>
              <a:t>Hash_3 = HMAC(AadhaarSign + Hash_2, Key). </a:t>
            </a:r>
            <a:r>
              <a:rPr sz="800" b="0">
                <a:solidFill>
                  <a:srgbClr val="334155"/>
                </a:solidFill>
                <a:latin typeface="Calibri"/>
              </a:rPr>
              <a:t>Cryptographically locks final statutory discharge.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RELEASE BLOCK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VERIFIED NOC OUTPUT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Statutory Certification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2331720"/>
            <a:ext cx="25877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7112" y="2386584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Aadhaar XML e-Sign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Discharge certificates executed under </a:t>
            </a:r>
            <a:r>
              <a:rPr sz="800" b="1">
                <a:solidFill>
                  <a:srgbClr val="0F172A"/>
                </a:solidFill>
                <a:latin typeface="Calibri"/>
              </a:rPr>
              <a:t>Section 5 of the Information Technology Act, 2000</a:t>
            </a:r>
            <a:r>
              <a:rPr sz="800" b="0">
                <a:solidFill>
                  <a:srgbClr val="334155"/>
                </a:solidFill>
                <a:latin typeface="Calibri"/>
              </a:rPr>
              <a:t>, conferring full statutory validity across Indian courts.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IT ACT VALID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70332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7112" y="3758184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Encrypted QR Verification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Embeds an AICTE private-key signed token. </a:t>
            </a:r>
            <a:r>
              <a:rPr sz="800" b="1">
                <a:solidFill>
                  <a:srgbClr val="0F172A"/>
                </a:solidFill>
                <a:latin typeface="Calibri"/>
              </a:rPr>
              <a:t>Bank branch managers verify document authenticity via smartphone scan in 2 seconds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88168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INSTANT VERIFY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Guarantees non-repudiation and insider threat immunity. Direct database modification breaks the cryptographic hash chain immediately, generating a critical security alert.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HMAC-SHA256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AES-256-GCM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PostgreSQL RLS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Aadhaar e-Sign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BANKING TELEMETRY &amp;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Tri-Modal Universal Bank Verification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Lack of standardized API infrastructure across 43 Regional Rural Banks and 1,500+ Urban Co-operative Banks creates a nationwide verification barrier.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A 3-Tier Adaptive Gateway: Integrates Core Banking System (CBS) APIs for Tier-1 banks, secure two-factor authenticated digital tokens for rural branches, and NeSL for statutory e-BG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🏛️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REQUEST TRIAGE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Capability Classifier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FDR Instrument Declaration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Institution submits FDR Number, Principal Amount, Maturity Date, and IFSC. </a:t>
            </a:r>
            <a:r>
              <a:rPr sz="800" b="1">
                <a:solidFill>
                  <a:srgbClr val="0F172A"/>
                </a:solidFill>
                <a:latin typeface="Calibri"/>
              </a:rPr>
              <a:t>Joint Account Undertaking is verified and cryptographically pinned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58184"/>
            <a:ext cx="25968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RBI Capability Registry Router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Resolves IFSC against the RBI Bank Infrastructure Master to automatically select </a:t>
            </a:r>
            <a:r>
              <a:rPr sz="800" b="1">
                <a:solidFill>
                  <a:srgbClr val="0F172A"/>
                </a:solidFill>
                <a:latin typeface="Calibri"/>
              </a:rPr>
              <a:t>Mode 1 (CBS API), Mode 2 (Token Link), or Mode 3 (NeSL)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2032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TRI-MODAL EXECUTION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Adaptive 3-Tier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Mode 1: CBS / SFMS Webhook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Tier-1 Banks (SBI, PNB, Canara, HDFC). </a:t>
            </a:r>
            <a:r>
              <a:rPr sz="800" b="1">
                <a:solidFill>
                  <a:srgbClr val="0F172A"/>
                </a:solidFill>
                <a:latin typeface="Calibri"/>
              </a:rPr>
              <a:t>SFMS IFN 760 BG/Lien</a:t>
            </a:r>
            <a:r>
              <a:rPr sz="800" b="0">
                <a:solidFill>
                  <a:srgbClr val="334155"/>
                </a:solidFill>
                <a:latin typeface="Calibri"/>
              </a:rPr>
              <a:t> automated JSON callback in under 1 second.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TIER-1 PSBS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Mode 2: Branch Manager Magic Token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Co-operative and Rural Banks. </a:t>
            </a:r>
            <a:r>
              <a:rPr sz="800" b="1">
                <a:solidFill>
                  <a:srgbClr val="0F172A"/>
                </a:solidFill>
                <a:latin typeface="Calibri"/>
              </a:rPr>
              <a:t>Time-bound cryptographic link dispatched to official branch email; manager confirms lien via SMS OTP</a:t>
            </a:r>
            <a:r>
              <a:rPr sz="800" b="0">
                <a:solidFill>
                  <a:srgbClr val="334155"/>
                </a:solidFill>
                <a:latin typeface="Calibri"/>
              </a:rPr>
              <a:t>. Zero IT overhead.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RURAL &amp; CO-OP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Mode 3: NeSL Statutory Utility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Digital Document Execution (DDE) query directly verifies </a:t>
            </a:r>
            <a:r>
              <a:rPr sz="800" b="1">
                <a:solidFill>
                  <a:srgbClr val="0F172A"/>
                </a:solidFill>
                <a:latin typeface="Calibri"/>
              </a:rPr>
              <a:t>e-Bank Guarantee and electronic stamp charge registrations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NESL UTILITY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LIEN CONFIRMED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Dual-Truth Reconciliation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331720"/>
            <a:ext cx="25877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2386584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Lien Marked &amp; Freeze Confirmed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Bank Core Banking logs an </a:t>
            </a:r>
            <a:r>
              <a:rPr sz="800" b="1">
                <a:solidFill>
                  <a:srgbClr val="0F172A"/>
                </a:solidFill>
                <a:latin typeface="Calibri"/>
              </a:rPr>
              <a:t>encashment restriction in favor of AICTE</a:t>
            </a:r>
            <a:r>
              <a:rPr sz="800" b="0">
                <a:solidFill>
                  <a:srgbClr val="334155"/>
                </a:solidFill>
                <a:latin typeface="Calibri"/>
              </a:rPr>
              <a:t>. Unauthorized pre-mature liquidation or loan drawdowns are blocked.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LIEN LOCKED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70332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758184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Dual-Truth Ledger Binding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Institution self-declarations are reconciled against </a:t>
            </a:r>
            <a:r>
              <a:rPr sz="800" b="1">
                <a:solidFill>
                  <a:srgbClr val="0F172A"/>
                </a:solidFill>
                <a:latin typeface="Calibri"/>
              </a:rPr>
              <a:t>independently authenticated Bank Truth</a:t>
            </a:r>
            <a:r>
              <a:rPr sz="800" b="0">
                <a:solidFill>
                  <a:srgbClr val="334155"/>
                </a:solidFill>
                <a:latin typeface="Calibri"/>
              </a:rPr>
              <a:t>. Maturity tracking initialized.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DUAL-TRUTH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Achieves 100% nationwide institutional coverage without mandating costly API overhauls on rural or co-operative banks, providing seamless lien verification across all banking tiers.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Open Banking CBS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SFMS IFN 760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2FA JWT Magic Link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NeSL DDE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AUTOMATION &amp; ADMINISTRATIVE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Autonomous Maturity Escalation &amp; Anti-Lapse SLA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Administrative lethargy and manual tracking cause deposits to mature unnoticed, resulting in unauthorized rollovers into non-interest-bearing holding accounts.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Autonomous Milestone Escalation: Automated chrono-workers monitor deposit horizons (T-180, T-90, T-30 days), dispatch multi-channel notifications, and escalate stalled files through a strict administrative ladder.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MIDNIGHT CRON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Chrono Scan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Celery / Redis Chrono Bot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Executes daily at 00:00 UTC across </a:t>
            </a:r>
            <a:r>
              <a:rPr sz="800" b="1">
                <a:solidFill>
                  <a:srgbClr val="0F172A"/>
                </a:solidFill>
                <a:latin typeface="Calibri"/>
              </a:rPr>
              <a:t>10,000+ active deposit instruments without requiring human initiation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58184"/>
            <a:ext cx="25968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Maturity Horizon Classifier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Classifies portfolio exposure into strict statutory intervals: </a:t>
            </a:r>
            <a:r>
              <a:rPr sz="800" b="1">
                <a:solidFill>
                  <a:srgbClr val="0F172A"/>
                </a:solidFill>
                <a:latin typeface="Calibri"/>
              </a:rPr>
              <a:t>T-180 Days (Early Advisory), T-90 Days (Renewal Open), T-30 Days (Urgent Alert), and D-Day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2032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OMNI-CHANNEL DISPATCH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Multi-Tier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WhatsApp Nodal Bot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Interactive quick-action buttons sent to Institution Heads: </a:t>
            </a:r>
            <a:r>
              <a:rPr sz="800" b="1">
                <a:solidFill>
                  <a:srgbClr val="0F172A"/>
                </a:solidFill>
                <a:latin typeface="Calibri"/>
              </a:rPr>
              <a:t>1-tap renewal document submission and live status verification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MOBILE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Official Email &amp; SMS Gateway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Cryptographically signed notices dispatched to </a:t>
            </a:r>
            <a:r>
              <a:rPr sz="800" b="1">
                <a:solidFill>
                  <a:srgbClr val="0F172A"/>
                </a:solidFill>
                <a:latin typeface="Calibri"/>
              </a:rPr>
              <a:t>registered Trust domain emails and authorized trustees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STATUTORY DISPATCH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Bank Branch Telemetry Notice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Formally instructs bank branch managers that </a:t>
            </a:r>
            <a:r>
              <a:rPr sz="800" b="1">
                <a:solidFill>
                  <a:srgbClr val="0F172A"/>
                </a:solidFill>
                <a:latin typeface="Calibri"/>
              </a:rPr>
              <a:t>liens remain enforceable pending official AICTE NOC execution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7E22CE"/>
                </a:solidFill>
                <a:latin typeface="Calibri"/>
              </a:rPr>
              <a:t>LIEN SAFEGUARD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2032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SLA ESCALATION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Accountability Ladder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2331720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97112" y="2386584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Day 0 - 7: Scrutiny Desk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Assigned to Regional Scrutiny Clerk with </a:t>
            </a:r>
            <a:r>
              <a:rPr sz="800" b="1">
                <a:solidFill>
                  <a:srgbClr val="0F172A"/>
                </a:solidFill>
                <a:latin typeface="Calibri"/>
              </a:rPr>
              <a:t>pre-extracted AI verification checklists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LEVEL 0 DESK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3310128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3364992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Day 10: RO Director Alert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Unreviewed past 7 days -&gt; </a:t>
            </a:r>
            <a:r>
              <a:rPr sz="800" b="1">
                <a:solidFill>
                  <a:srgbClr val="0F172A"/>
                </a:solidFill>
                <a:latin typeface="Calibri"/>
              </a:rPr>
              <a:t>Automated escalation notice dispatched directly to Regional Director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D97706"/>
                </a:solidFill>
                <a:latin typeface="Calibri"/>
              </a:rPr>
              <a:t>LEVEL 1 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4288536"/>
            <a:ext cx="258775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4343400"/>
            <a:ext cx="244144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Day 15: AICTE HQ Red Flag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High-priority red flag activated on </a:t>
            </a:r>
            <a:r>
              <a:rPr sz="800" b="1">
                <a:solidFill>
                  <a:srgbClr val="0F172A"/>
                </a:solidFill>
                <a:latin typeface="Calibri"/>
              </a:rPr>
              <a:t>New Delhi Central Bureau Chief Dashboard</a:t>
            </a:r>
            <a:r>
              <a:rPr sz="800" b="0">
                <a:solidFill>
                  <a:srgbClr val="334155"/>
                </a:solidFill>
                <a:latin typeface="Calibri"/>
              </a:rPr>
              <a:t>. Enforces zero administrative latency.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88168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LEVEL 2 HQ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Enforces complete bureaucratic accountability. Eliminates multi-month processing delays through automated escalations, ensuring 100% compliance with statutory lock-in timelines.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Celery &amp; Redis 7.2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Meta Cloud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FastAPI Async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PostgreSQL Triggers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881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4F46E5"/>
                </a:solidFill>
                <a:latin typeface="Calibri"/>
              </a:rPr>
              <a:t>SYSTEM ARCHITECTURE • INTEROPERABILITY &amp; DIGITAL PUBLIC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Cross-Government DPI Entity Intelligence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11535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96112"/>
            <a:ext cx="4754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E11D48"/>
                </a:solidFill>
                <a:latin typeface="Calibri"/>
              </a:rPr>
              <a:t>CORE OPERATIONAL CHALLENGE: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Shell societies and benami trusts exploit identity mismatches where deposit accounts, educational institutions, and trustee PANs do not legally correspond.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960120"/>
            <a:ext cx="127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896112"/>
            <a:ext cx="54864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59669"/>
                </a:solidFill>
                <a:latin typeface="Calibri"/>
              </a:rPr>
              <a:t>ENGINEERED ARCHITECTURE &amp; MVP PIPELINE: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334155"/>
                </a:solidFill>
                <a:latin typeface="Calibri"/>
              </a:rPr>
              <a:t>Real-time handshakes with NITI Aayog NGO Darpan, MCA21, and CBDT PAN verify trustee identity, corporate registration, and authorized signatories on Day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017520" cy="365760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2032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470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1. STATUTORY APIS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Live Government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31720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86584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NITI Aayog NGO Darpan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Real-time Trust Unique ID lookup; </a:t>
            </a:r>
            <a:r>
              <a:rPr sz="800" b="1">
                <a:solidFill>
                  <a:srgbClr val="0F172A"/>
                </a:solidFill>
                <a:latin typeface="Calibri"/>
              </a:rPr>
              <a:t>extracts certified list of executive trustees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10128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364992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MCA21 Corporate Affairs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Validates Section-8 non-profit company </a:t>
            </a:r>
            <a:r>
              <a:rPr sz="800" b="1">
                <a:solidFill>
                  <a:srgbClr val="0F172A"/>
                </a:solidFill>
                <a:latin typeface="Calibri"/>
              </a:rPr>
              <a:t>CIN, director identity, and active legal status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288536"/>
            <a:ext cx="2743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43400"/>
            <a:ext cx="259689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CBDT PAN &amp; AISHE Linkage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Validates Trust PAN entity name and </a:t>
            </a:r>
            <a:r>
              <a:rPr sz="800" b="1">
                <a:solidFill>
                  <a:srgbClr val="0F172A"/>
                </a:solidFill>
                <a:latin typeface="Calibri"/>
              </a:rPr>
              <a:t>maps sanctioned student intake capacity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3383280"/>
            <a:ext cx="219456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9080" y="1737360"/>
            <a:ext cx="4206240" cy="36576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2032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🕸️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1847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2. GRAPH MATCHER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Entity Relationship Matrix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33172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386584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Trust Name Reconciliation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Cross-examines </a:t>
            </a:r>
            <a:r>
              <a:rPr sz="800" b="1">
                <a:solidFill>
                  <a:srgbClr val="0F172A"/>
                </a:solidFill>
                <a:latin typeface="Calibri"/>
              </a:rPr>
              <a:t>FDR Account Holder against Registered Trust Name</a:t>
            </a:r>
            <a:r>
              <a:rPr sz="800" b="0">
                <a:solidFill>
                  <a:srgbClr val="334155"/>
                </a:solidFill>
                <a:latin typeface="Calibri"/>
              </a:rPr>
              <a:t> in NGO Darpan registry.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284C7"/>
                </a:solidFill>
                <a:latin typeface="Calibri"/>
              </a:rPr>
              <a:t>NAME 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310128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3364992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Signatory Authorization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Matches Authorized Signatory against </a:t>
            </a:r>
            <a:r>
              <a:rPr sz="800" b="1">
                <a:solidFill>
                  <a:srgbClr val="0F172A"/>
                </a:solidFill>
                <a:latin typeface="Calibri"/>
              </a:rPr>
              <a:t>MCA21 active trustees and directors registry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3364992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ROLE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288536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4343400"/>
            <a:ext cx="3785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Blacklist &amp; Shell Sentinel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Cross-references PANs and names against the </a:t>
            </a:r>
            <a:r>
              <a:rPr sz="800" b="1">
                <a:solidFill>
                  <a:srgbClr val="0F172A"/>
                </a:solidFill>
                <a:latin typeface="Calibri"/>
              </a:rPr>
              <a:t>AICTE debarred entity blacklist</a:t>
            </a:r>
            <a:r>
              <a:rPr sz="800" b="0">
                <a:solidFill>
                  <a:srgbClr val="334155"/>
                </a:solidFill>
                <a:latin typeface="Calibri"/>
              </a:rPr>
              <a:t>. Eliminates benami trusts prior to approval.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14616" y="4343400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BENAMI FILTER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366760" y="3383280"/>
            <a:ext cx="219456" cy="182880"/>
          </a:xfrm>
          <a:prstGeom prst="rightArrow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0" y="1737360"/>
            <a:ext cx="2862072" cy="36576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032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23960" y="184708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184708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  <a:latin typeface="Calibri"/>
              </a:rPr>
              <a:t>3. TRUST CLEARANCE</a:t>
            </a:r>
          </a:p>
          <a:p>
            <a:pPr>
              <a:spcBef>
                <a:spcPts val="100"/>
              </a:spcBef>
            </a:pPr>
            <a:r>
              <a:rPr sz="750">
                <a:solidFill>
                  <a:srgbClr val="64748B"/>
                </a:solidFill>
                <a:latin typeface="Calibri"/>
              </a:rPr>
              <a:t>Regulatory Determination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2331720"/>
            <a:ext cx="258775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7112" y="2386584"/>
            <a:ext cx="24414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100% Green Match : Cleared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Zero identity discrepancies. </a:t>
            </a:r>
            <a:r>
              <a:rPr sz="800" b="1">
                <a:solidFill>
                  <a:srgbClr val="0F172A"/>
                </a:solidFill>
                <a:latin typeface="Calibri"/>
              </a:rPr>
              <a:t>Fast-tracks deposit directly to Bank Gateway without requiring manual notarized affidavits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168" y="23865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059669"/>
                </a:solidFill>
                <a:latin typeface="Calibri"/>
              </a:rPr>
              <a:t>APPROVED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370332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7112" y="3758184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Discrepancy : Show-Cause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334155"/>
                </a:solidFill>
                <a:latin typeface="Calibri"/>
              </a:rPr>
              <a:t>Entity mismatch detected. </a:t>
            </a:r>
            <a:r>
              <a:rPr sz="800" b="1">
                <a:solidFill>
                  <a:srgbClr val="0F172A"/>
                </a:solidFill>
                <a:latin typeface="Calibri"/>
              </a:rPr>
              <a:t>Freezes approval workflows and generates automated show-cause notice</a:t>
            </a:r>
            <a:r>
              <a:rPr sz="800" b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88168" y="3758184"/>
            <a:ext cx="868680" cy="164592"/>
          </a:xfrm>
          <a:prstGeom prst="roundRect">
            <a:avLst>
              <a:gd name="adj" fmla="val 30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" b="1">
                <a:solidFill>
                  <a:srgbClr val="E11D48"/>
                </a:solidFill>
                <a:latin typeface="Calibri"/>
              </a:rPr>
              <a:t>SHOW-CAUSE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532120"/>
            <a:ext cx="10911535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623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94A3B8"/>
                </a:solidFill>
                <a:latin typeface="Calibri"/>
              </a:rPr>
              <a:t>ARCHITECTURAL IMPACT &amp; OPERATIONAL GUARANTEE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FFFFF"/>
                </a:solidFill>
                <a:latin typeface="Calibri"/>
              </a:rPr>
              <a:t>Integrates directly with National Digital Public Infrastructure (DPI) to eliminate shell societies and benami trusts, saving hundreds of administrative scrutiny hours annually.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6235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94A3B8"/>
                </a:solidFill>
                <a:latin typeface="Calibri"/>
              </a:rPr>
              <a:t>PRODUCTION TECH STACK: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NITI NGO Darpan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5480" y="5897880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MCA21 REST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CBDT PAN Gateway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55480" y="6190488"/>
            <a:ext cx="1600200" cy="256032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E2E8F0"/>
                </a:solidFill>
                <a:latin typeface="Calibri"/>
              </a:rPr>
              <a:t>AISHE Registry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